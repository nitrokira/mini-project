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7536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42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svg"/><Relationship Id="rId7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1689097"/>
          </a:xfrm>
          <a:custGeom>
            <a:avLst/>
            <a:gdLst/>
            <a:ahLst/>
            <a:cxnLst/>
            <a:rect l="l" t="t" r="r" b="b"/>
            <a:pathLst>
              <a:path w="9753600" h="1689097">
                <a:moveTo>
                  <a:pt x="0" y="0"/>
                </a:moveTo>
                <a:lnTo>
                  <a:pt x="9753600" y="0"/>
                </a:lnTo>
                <a:lnTo>
                  <a:pt x="9753600" y="1689097"/>
                </a:lnTo>
                <a:lnTo>
                  <a:pt x="0" y="1689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600" y="254003"/>
            <a:ext cx="1269997" cy="1295400"/>
            <a:chOff x="0" y="0"/>
            <a:chExt cx="1693329" cy="1727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93291" cy="1727200"/>
            </a:xfrm>
            <a:custGeom>
              <a:avLst/>
              <a:gdLst/>
              <a:ahLst/>
              <a:cxnLst/>
              <a:rect l="l" t="t" r="r" b="b"/>
              <a:pathLst>
                <a:path w="1693291" h="1727200">
                  <a:moveTo>
                    <a:pt x="0" y="0"/>
                  </a:moveTo>
                  <a:lnTo>
                    <a:pt x="1693291" y="0"/>
                  </a:lnTo>
                  <a:lnTo>
                    <a:pt x="169329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14314" y="5568953"/>
            <a:ext cx="8026584" cy="76200"/>
          </a:xfrm>
          <a:custGeom>
            <a:avLst/>
            <a:gdLst/>
            <a:ahLst/>
            <a:cxnLst/>
            <a:rect l="l" t="t" r="r" b="b"/>
            <a:pathLst>
              <a:path w="8026584" h="76200">
                <a:moveTo>
                  <a:pt x="0" y="0"/>
                </a:moveTo>
                <a:lnTo>
                  <a:pt x="8026584" y="0"/>
                </a:lnTo>
                <a:lnTo>
                  <a:pt x="8026584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50000" y="170000"/>
            <a:ext cx="7646400" cy="44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SIDDAGANGA INSTITUTE OF TECHNOLOGY,</a:t>
            </a:r>
            <a:endParaRPr lang="en-US" sz="2800"/>
          </a:p>
        </p:txBody>
      </p:sp>
      <p:sp>
        <p:nvSpPr>
          <p:cNvPr id="7" name="TextBox 7"/>
          <p:cNvSpPr txBox="1"/>
          <p:nvPr/>
        </p:nvSpPr>
        <p:spPr>
          <a:xfrm>
            <a:off x="1650000" y="610000"/>
            <a:ext cx="7646400" cy="44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TUMKUR</a:t>
            </a:r>
            <a:endParaRPr lang="en-US" sz="2800"/>
          </a:p>
        </p:txBody>
      </p:sp>
      <p:sp>
        <p:nvSpPr>
          <p:cNvPr id="8" name="TextBox 8"/>
          <p:cNvSpPr txBox="1"/>
          <p:nvPr/>
        </p:nvSpPr>
        <p:spPr>
          <a:xfrm>
            <a:off x="1650000" y="1100000"/>
            <a:ext cx="76105" cy="34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/>
          </a:p>
        </p:txBody>
      </p:sp>
      <p:sp>
        <p:nvSpPr>
          <p:cNvPr id="9" name="TextBox 9"/>
          <p:cNvSpPr txBox="1"/>
          <p:nvPr/>
        </p:nvSpPr>
        <p:spPr>
          <a:xfrm>
            <a:off x="1650000" y="1100000"/>
            <a:ext cx="7646400" cy="34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Department of Information Science and Engineering</a:t>
            </a:r>
            <a:endParaRPr lang="en-US" sz="2200"/>
          </a:p>
        </p:txBody>
      </p:sp>
      <p:sp>
        <p:nvSpPr>
          <p:cNvPr id="10" name="TextBox 10"/>
          <p:cNvSpPr txBox="1"/>
          <p:nvPr/>
        </p:nvSpPr>
        <p:spPr>
          <a:xfrm>
            <a:off x="1100000" y="1950000"/>
            <a:ext cx="7553600" cy="21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Mini Project Second Review Presentation</a:t>
            </a:r>
            <a:endParaRPr lang="en-US" sz="2200"/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  <a:endParaRPr lang="en-US" sz="22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Banana Leaf Disease Diagnosis and Severity Estimation</a:t>
            </a:r>
            <a:endParaRPr lang="en-US" sz="2800"/>
          </a:p>
        </p:txBody>
      </p:sp>
      <p:sp>
        <p:nvSpPr>
          <p:cNvPr id="11" name="TextBox 11"/>
          <p:cNvSpPr txBox="1"/>
          <p:nvPr/>
        </p:nvSpPr>
        <p:spPr>
          <a:xfrm>
            <a:off x="914400" y="4000000"/>
            <a:ext cx="6000000" cy="1417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By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Rakesh Y G: 1SI24IS076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Pavan B S: 1SI24IS068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Shishir S Gowda: 1SI24IS094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Vathsalya P: 1SI24IS119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6096000" y="5750000"/>
            <a:ext cx="3200400" cy="845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 THE GUIDANCE OF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Dr. Jayanna H S</a:t>
            </a:r>
            <a:endParaRPr lang="en-US" sz="16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Professor, Dept. of ISE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6418" y="0"/>
            <a:ext cx="10325734" cy="336121"/>
          </a:xfrm>
          <a:custGeom>
            <a:avLst/>
            <a:gdLst/>
            <a:ahLst/>
            <a:cxnLst/>
            <a:rect l="l" t="t" r="r" b="b"/>
            <a:pathLst>
              <a:path w="10325734" h="336121">
                <a:moveTo>
                  <a:pt x="0" y="0"/>
                </a:moveTo>
                <a:lnTo>
                  <a:pt x="10325734" y="0"/>
                </a:lnTo>
                <a:lnTo>
                  <a:pt x="10325734" y="336121"/>
                </a:lnTo>
                <a:lnTo>
                  <a:pt x="0" y="3361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80868" y="6908797"/>
            <a:ext cx="10579782" cy="440828"/>
          </a:xfrm>
          <a:custGeom>
            <a:avLst/>
            <a:gdLst/>
            <a:ahLst/>
            <a:cxnLst/>
            <a:rect l="l" t="t" r="r" b="b"/>
            <a:pathLst>
              <a:path w="10579782" h="440828">
                <a:moveTo>
                  <a:pt x="0" y="0"/>
                </a:moveTo>
                <a:lnTo>
                  <a:pt x="10579782" y="0"/>
                </a:lnTo>
                <a:lnTo>
                  <a:pt x="10579782" y="440828"/>
                </a:lnTo>
                <a:lnTo>
                  <a:pt x="0" y="440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12143" y="1475737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12143" y="1869443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12143" y="2263140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2143" y="2656837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12143" y="3050543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12143" y="3858406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2143" y="4252112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12143" y="4645809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12143" y="5039506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2143" y="5433212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96013" y="3445507"/>
            <a:ext cx="93983" cy="93983"/>
          </a:xfrm>
          <a:custGeom>
            <a:avLst/>
            <a:gdLst/>
            <a:ahLst/>
            <a:cxnLst/>
            <a:rect l="l" t="t" r="r" b="b"/>
            <a:pathLst>
              <a:path w="93983" h="93983">
                <a:moveTo>
                  <a:pt x="0" y="0"/>
                </a:moveTo>
                <a:lnTo>
                  <a:pt x="93983" y="0"/>
                </a:lnTo>
                <a:lnTo>
                  <a:pt x="93983" y="93983"/>
                </a:lnTo>
                <a:lnTo>
                  <a:pt x="0" y="93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Outline</a:t>
            </a:r>
            <a:endParaRPr lang="en-US" sz="1400"/>
          </a:p>
        </p:txBody>
      </p:sp>
      <p:sp>
        <p:nvSpPr>
          <p:cNvPr id="18" name="TextBox 18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19" name="TextBox 19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  <p:sp>
        <p:nvSpPr>
          <p:cNvPr id="20" name="TextBox 20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OUTLINE</a:t>
            </a:r>
            <a:endParaRPr lang="en-US" sz="2800"/>
          </a:p>
        </p:txBody>
      </p:sp>
      <p:sp>
        <p:nvSpPr>
          <p:cNvPr id="21" name="TextBox 21"/>
          <p:cNvSpPr txBox="1"/>
          <p:nvPr/>
        </p:nvSpPr>
        <p:spPr>
          <a:xfrm>
            <a:off x="888997" y="1327145"/>
            <a:ext cx="4500000" cy="1968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Literature Survey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Proposed Work</a:t>
            </a:r>
            <a:endParaRPr lang="en-US" sz="1800"/>
          </a:p>
        </p:txBody>
      </p:sp>
      <p:sp>
        <p:nvSpPr>
          <p:cNvPr id="22" name="TextBox 22"/>
          <p:cNvSpPr txBox="1"/>
          <p:nvPr/>
        </p:nvSpPr>
        <p:spPr>
          <a:xfrm>
            <a:off x="888997" y="3709814"/>
            <a:ext cx="4500000" cy="2362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Requirements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Demonstration of Project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Results and Output Visualization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 Application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800"/>
          </a:p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1800"/>
          </a:p>
        </p:txBody>
      </p:sp>
      <p:sp>
        <p:nvSpPr>
          <p:cNvPr id="23" name="TextBox 23"/>
          <p:cNvSpPr txBox="1"/>
          <p:nvPr/>
        </p:nvSpPr>
        <p:spPr>
          <a:xfrm>
            <a:off x="1346197" y="3295648"/>
            <a:ext cx="4500000" cy="393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System Architecture/ Block Diagram/ Flow Chart</a:t>
            </a:r>
            <a:endParaRPr lang="en-US" sz="1800"/>
          </a:p>
        </p:txBody>
      </p:sp>
      <p:sp>
        <p:nvSpPr>
          <p:cNvPr id="24" name="Freeform 24"/>
          <p:cNvSpPr/>
          <p:nvPr/>
        </p:nvSpPr>
        <p:spPr>
          <a:xfrm>
            <a:off x="612143" y="5825004"/>
            <a:ext cx="96517" cy="96517"/>
          </a:xfrm>
          <a:custGeom>
            <a:avLst/>
            <a:gdLst/>
            <a:ahLst/>
            <a:cxnLst/>
            <a:rect l="l" t="t" r="r" b="b"/>
            <a:pathLst>
              <a:path w="96517" h="96517">
                <a:moveTo>
                  <a:pt x="0" y="0"/>
                </a:moveTo>
                <a:lnTo>
                  <a:pt x="96517" y="0"/>
                </a:lnTo>
                <a:lnTo>
                  <a:pt x="96517" y="96517"/>
                </a:lnTo>
                <a:lnTo>
                  <a:pt x="0" y="96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6418" y="0"/>
            <a:ext cx="10235689" cy="333190"/>
          </a:xfrm>
          <a:custGeom>
            <a:avLst/>
            <a:gdLst/>
            <a:ahLst/>
            <a:cxnLst/>
            <a:rect l="l" t="t" r="r" b="b"/>
            <a:pathLst>
              <a:path w="10235689" h="333190">
                <a:moveTo>
                  <a:pt x="0" y="0"/>
                </a:moveTo>
                <a:lnTo>
                  <a:pt x="10235689" y="0"/>
                </a:lnTo>
                <a:lnTo>
                  <a:pt x="10235689" y="333190"/>
                </a:lnTo>
                <a:lnTo>
                  <a:pt x="0" y="3331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3730" y="6908797"/>
            <a:ext cx="10665887" cy="444415"/>
          </a:xfrm>
          <a:custGeom>
            <a:avLst/>
            <a:gdLst/>
            <a:ahLst/>
            <a:cxnLst/>
            <a:rect l="l" t="t" r="r" b="b"/>
            <a:pathLst>
              <a:path w="10665887" h="444415">
                <a:moveTo>
                  <a:pt x="0" y="0"/>
                </a:moveTo>
                <a:lnTo>
                  <a:pt x="10665887" y="0"/>
                </a:lnTo>
                <a:lnTo>
                  <a:pt x="10665887" y="444415"/>
                </a:lnTo>
                <a:lnTo>
                  <a:pt x="0" y="444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2800"/>
          </a:p>
        </p:txBody>
      </p:sp>
      <p:sp>
        <p:nvSpPr>
          <p:cNvPr id="19" name="TextBox 19"/>
          <p:cNvSpPr txBox="1"/>
          <p:nvPr/>
        </p:nvSpPr>
        <p:spPr>
          <a:xfrm>
            <a:off x="457200" y="1250000"/>
            <a:ext cx="8839200" cy="479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Bananas are among the world's most cultivated fruit crops and a major source of income for farmers, including in Karnataka.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Leaf diseases such as Sigatoka , Cordana , Pestalotiopsis significantly reduce yield, fruit quality, and farm income.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Manual inspection by farmers is slow, subjective, and often inaccurate, especially in the early stages of infection.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Advances in Deep Learning and Computer Vision enable automated, image-based detection of plant diseases with high accuracy.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This project proposes system that detects the disease, estimates its severity, and visually explains its prediction using Grad-CAM.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system is designed to provide farmers with an easy-to-use tool for early diagnosis and actionable crop-management recommendations.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8920" y="0"/>
            <a:ext cx="10794311" cy="351374"/>
          </a:xfrm>
          <a:custGeom>
            <a:avLst/>
            <a:gdLst/>
            <a:ahLst/>
            <a:cxnLst/>
            <a:rect l="l" t="t" r="r" b="b"/>
            <a:pathLst>
              <a:path w="10794311" h="351374">
                <a:moveTo>
                  <a:pt x="0" y="0"/>
                </a:moveTo>
                <a:lnTo>
                  <a:pt x="10794311" y="0"/>
                </a:lnTo>
                <a:lnTo>
                  <a:pt x="10794311" y="351374"/>
                </a:lnTo>
                <a:lnTo>
                  <a:pt x="0" y="35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1764" y="6908797"/>
            <a:ext cx="10729277" cy="447057"/>
          </a:xfrm>
          <a:custGeom>
            <a:avLst/>
            <a:gdLst/>
            <a:ahLst/>
            <a:cxnLst/>
            <a:rect l="l" t="t" r="r" b="b"/>
            <a:pathLst>
              <a:path w="10729277" h="447057">
                <a:moveTo>
                  <a:pt x="0" y="0"/>
                </a:moveTo>
                <a:lnTo>
                  <a:pt x="10729277" y="0"/>
                </a:lnTo>
                <a:lnTo>
                  <a:pt x="10729277" y="447057"/>
                </a:lnTo>
                <a:lnTo>
                  <a:pt x="0" y="447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545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Banana leaf diseases are difficult to detect manually because inspection is time-consuming and requires expert knowledge. Farmers may not have quick access to experts, which can lead to delayed or incorrect treatment. Therefore, there is a need for an accessible and explainable  system that can detect banana leaf diseases at an early stage, estimate their severity, visually explain the prediction, and recommend suitable action.</a:t>
            </a: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9403" y="0"/>
            <a:ext cx="10882704" cy="354251"/>
          </a:xfrm>
          <a:custGeom>
            <a:avLst/>
            <a:gdLst/>
            <a:ahLst/>
            <a:cxnLst/>
            <a:rect l="l" t="t" r="r" b="b"/>
            <a:pathLst>
              <a:path w="10882704" h="354251">
                <a:moveTo>
                  <a:pt x="0" y="0"/>
                </a:moveTo>
                <a:lnTo>
                  <a:pt x="10882704" y="0"/>
                </a:lnTo>
                <a:lnTo>
                  <a:pt x="10882704" y="354251"/>
                </a:lnTo>
                <a:lnTo>
                  <a:pt x="0" y="354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07120" y="6908797"/>
            <a:ext cx="10831229" cy="451305"/>
          </a:xfrm>
          <a:custGeom>
            <a:avLst/>
            <a:gdLst/>
            <a:ahLst/>
            <a:cxnLst/>
            <a:rect l="l" t="t" r="r" b="b"/>
            <a:pathLst>
              <a:path w="10831229" h="451305">
                <a:moveTo>
                  <a:pt x="0" y="0"/>
                </a:moveTo>
                <a:lnTo>
                  <a:pt x="10831230" y="0"/>
                </a:lnTo>
                <a:lnTo>
                  <a:pt x="10831230" y="451305"/>
                </a:lnTo>
                <a:lnTo>
                  <a:pt x="0" y="451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479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1.To develop a deep-learning model that classifies banana leaf images as healthy or affected by diseases.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2.To estimate disease severity by computing the percentage of leaf area affected and mapping it to Mild/Moderate/Severe categories.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3.To incorporate Explainable AI (Grad-CAM) that visually highlights the regions influencing the model's prediction.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4.To design a recommendation engine that suggests verified crop-management actions based on disease type and severity.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5.To build a Streamlit-based web interface with a dashboard for scan history and disease-progression tracking.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6.To validate every uploaded image (banana leaf / not a banana leaf) before analysis, so that unsuitable images are rejected.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58561" cy="324169"/>
          </a:xfrm>
          <a:custGeom>
            <a:avLst/>
            <a:gdLst/>
            <a:ahLst/>
            <a:cxnLst/>
            <a:rect l="l" t="t" r="r" b="b"/>
            <a:pathLst>
              <a:path w="9958561" h="324169">
                <a:moveTo>
                  <a:pt x="0" y="0"/>
                </a:moveTo>
                <a:lnTo>
                  <a:pt x="9958561" y="0"/>
                </a:lnTo>
                <a:lnTo>
                  <a:pt x="9958561" y="324169"/>
                </a:lnTo>
                <a:lnTo>
                  <a:pt x="0" y="324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08865" y="6908797"/>
            <a:ext cx="10367426" cy="431979"/>
          </a:xfrm>
          <a:custGeom>
            <a:avLst/>
            <a:gdLst/>
            <a:ahLst/>
            <a:cxnLst/>
            <a:rect l="l" t="t" r="r" b="b"/>
            <a:pathLst>
              <a:path w="10367426" h="431979">
                <a:moveTo>
                  <a:pt x="0" y="0"/>
                </a:moveTo>
                <a:lnTo>
                  <a:pt x="10367426" y="0"/>
                </a:lnTo>
                <a:lnTo>
                  <a:pt x="10367426" y="431979"/>
                </a:lnTo>
                <a:lnTo>
                  <a:pt x="0" y="431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40693" y="1304287"/>
            <a:ext cx="8978360" cy="4219034"/>
          </a:xfrm>
          <a:custGeom>
            <a:avLst/>
            <a:gdLst/>
            <a:ahLst/>
            <a:cxnLst/>
            <a:rect l="l" t="t" r="r" b="b"/>
            <a:pathLst>
              <a:path w="8978360" h="4219034">
                <a:moveTo>
                  <a:pt x="0" y="0"/>
                </a:moveTo>
                <a:lnTo>
                  <a:pt x="8978360" y="0"/>
                </a:lnTo>
                <a:lnTo>
                  <a:pt x="8978360" y="4219034"/>
                </a:lnTo>
                <a:lnTo>
                  <a:pt x="0" y="4219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Literature Survey</a:t>
            </a:r>
            <a:endParaRPr lang="en-US" sz="1400"/>
          </a:p>
        </p:txBody>
      </p:sp>
      <p:sp>
        <p:nvSpPr>
          <p:cNvPr id="8" name="TextBox 8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200"/>
          </a:p>
        </p:txBody>
      </p:sp>
      <p:sp>
        <p:nvSpPr>
          <p:cNvPr id="10" name="TextBox 10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LITERATURE SURVEY</a:t>
            </a:r>
            <a:endParaRPr lang="en-US" sz="2800"/>
          </a:p>
        </p:txBody>
      </p:sp>
      <p:sp>
        <p:nvSpPr>
          <p:cNvPr id="11" name="TextBox 11"/>
          <p:cNvSpPr txBox="1"/>
          <p:nvPr/>
        </p:nvSpPr>
        <p:spPr>
          <a:xfrm>
            <a:off x="584197" y="1304287"/>
            <a:ext cx="1380000" cy="4373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Authors</a:t>
            </a:r>
            <a:endParaRPr lang="en-US" sz="1400"/>
          </a:p>
        </p:txBody>
      </p:sp>
      <p:sp>
        <p:nvSpPr>
          <p:cNvPr id="12" name="TextBox 12"/>
          <p:cNvSpPr txBox="1"/>
          <p:nvPr/>
        </p:nvSpPr>
        <p:spPr>
          <a:xfrm>
            <a:off x="2082803" y="1304287"/>
            <a:ext cx="500000" cy="4373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</a:t>
            </a:r>
            <a:endParaRPr lang="en-US" sz="1400"/>
          </a:p>
        </p:txBody>
      </p:sp>
      <p:sp>
        <p:nvSpPr>
          <p:cNvPr id="13" name="TextBox 13"/>
          <p:cNvSpPr txBox="1"/>
          <p:nvPr/>
        </p:nvSpPr>
        <p:spPr>
          <a:xfrm>
            <a:off x="2720000" y="1304287"/>
            <a:ext cx="2990000" cy="4373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Paper Title</a:t>
            </a:r>
            <a:endParaRPr lang="en-US" sz="1400"/>
          </a:p>
        </p:txBody>
      </p:sp>
      <p:sp>
        <p:nvSpPr>
          <p:cNvPr id="14" name="TextBox 14"/>
          <p:cNvSpPr txBox="1"/>
          <p:nvPr/>
        </p:nvSpPr>
        <p:spPr>
          <a:xfrm>
            <a:off x="5900000" y="1304287"/>
            <a:ext cx="3400000" cy="4373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Remarks</a:t>
            </a:r>
            <a:endParaRPr lang="en-US" sz="1400"/>
          </a:p>
        </p:txBody>
      </p:sp>
      <p:sp>
        <p:nvSpPr>
          <p:cNvPr id="15" name="TextBox 15"/>
          <p:cNvSpPr txBox="1"/>
          <p:nvPr/>
        </p:nvSpPr>
        <p:spPr>
          <a:xfrm>
            <a:off x="584197" y="4783000"/>
            <a:ext cx="1380000" cy="669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Alanazi</a:t>
            </a:r>
            <a:endParaRPr lang="en-US" sz="1200"/>
          </a:p>
        </p:txBody>
      </p:sp>
      <p:sp>
        <p:nvSpPr>
          <p:cNvPr id="16" name="TextBox 16"/>
          <p:cNvSpPr txBox="1"/>
          <p:nvPr/>
        </p:nvSpPr>
        <p:spPr>
          <a:xfrm>
            <a:off x="584197" y="2590578"/>
            <a:ext cx="1380000" cy="85442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Narayanan et al.</a:t>
            </a:r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584197" y="1741626"/>
            <a:ext cx="1380000" cy="84895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Kothalawala et al.</a:t>
            </a:r>
            <a:endParaRPr lang="en-US" sz="1200"/>
          </a:p>
        </p:txBody>
      </p:sp>
      <p:sp>
        <p:nvSpPr>
          <p:cNvPr id="18" name="TextBox 18"/>
          <p:cNvSpPr txBox="1"/>
          <p:nvPr/>
        </p:nvSpPr>
        <p:spPr>
          <a:xfrm>
            <a:off x="584197" y="3445000"/>
            <a:ext cx="1380000" cy="65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Tanwar, Sharma &amp; Aanand</a:t>
            </a:r>
            <a:endParaRPr lang="en-US" sz="1200"/>
          </a:p>
        </p:txBody>
      </p:sp>
      <p:sp>
        <p:nvSpPr>
          <p:cNvPr id="19" name="TextBox 19"/>
          <p:cNvSpPr txBox="1"/>
          <p:nvPr/>
        </p:nvSpPr>
        <p:spPr>
          <a:xfrm>
            <a:off x="584197" y="4100000"/>
            <a:ext cx="1380000" cy="683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Thirumeninathan et al.</a:t>
            </a:r>
            <a:endParaRPr lang="en-US" sz="1200"/>
          </a:p>
        </p:txBody>
      </p:sp>
      <p:sp>
        <p:nvSpPr>
          <p:cNvPr id="20" name="TextBox 20"/>
          <p:cNvSpPr txBox="1"/>
          <p:nvPr/>
        </p:nvSpPr>
        <p:spPr>
          <a:xfrm>
            <a:off x="2082803" y="1741626"/>
            <a:ext cx="500000" cy="84895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2022</a:t>
            </a:r>
            <a:endParaRPr lang="en-US" sz="1200"/>
          </a:p>
        </p:txBody>
      </p:sp>
      <p:sp>
        <p:nvSpPr>
          <p:cNvPr id="21" name="TextBox 21"/>
          <p:cNvSpPr txBox="1"/>
          <p:nvPr/>
        </p:nvSpPr>
        <p:spPr>
          <a:xfrm>
            <a:off x="2082803" y="2590578"/>
            <a:ext cx="500000" cy="85442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2022</a:t>
            </a:r>
            <a:endParaRPr lang="en-US" sz="1200"/>
          </a:p>
        </p:txBody>
      </p:sp>
      <p:sp>
        <p:nvSpPr>
          <p:cNvPr id="22" name="TextBox 22"/>
          <p:cNvSpPr txBox="1"/>
          <p:nvPr/>
        </p:nvSpPr>
        <p:spPr>
          <a:xfrm>
            <a:off x="2082803" y="3445000"/>
            <a:ext cx="500000" cy="65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2023</a:t>
            </a:r>
            <a:endParaRPr lang="en-US" sz="1200"/>
          </a:p>
        </p:txBody>
      </p:sp>
      <p:sp>
        <p:nvSpPr>
          <p:cNvPr id="23" name="TextBox 23"/>
          <p:cNvSpPr txBox="1"/>
          <p:nvPr/>
        </p:nvSpPr>
        <p:spPr>
          <a:xfrm>
            <a:off x="2082803" y="4100000"/>
            <a:ext cx="500000" cy="683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2024</a:t>
            </a:r>
            <a:endParaRPr lang="en-US" sz="1200"/>
          </a:p>
        </p:txBody>
      </p:sp>
      <p:sp>
        <p:nvSpPr>
          <p:cNvPr id="24" name="TextBox 24"/>
          <p:cNvSpPr txBox="1"/>
          <p:nvPr/>
        </p:nvSpPr>
        <p:spPr>
          <a:xfrm>
            <a:off x="2082803" y="4783000"/>
            <a:ext cx="500000" cy="669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2025</a:t>
            </a:r>
            <a:endParaRPr lang="en-US" sz="1200"/>
          </a:p>
        </p:txBody>
      </p:sp>
      <p:sp>
        <p:nvSpPr>
          <p:cNvPr id="27" name="TextBox 27"/>
          <p:cNvSpPr txBox="1"/>
          <p:nvPr/>
        </p:nvSpPr>
        <p:spPr>
          <a:xfrm>
            <a:off x="2720000" y="1741626"/>
            <a:ext cx="2990000" cy="84895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Banana Disease Identification Using Machine Learning Based Technologies and Weather-Based Dispersion Analysis (IEEE ICAC, Colombo, Sri Lanka)</a:t>
            </a:r>
            <a:endParaRPr lang="en-US" sz="1200"/>
          </a:p>
        </p:txBody>
      </p:sp>
      <p:sp>
        <p:nvSpPr>
          <p:cNvPr id="28" name="TextBox 28"/>
          <p:cNvSpPr txBox="1"/>
          <p:nvPr/>
        </p:nvSpPr>
        <p:spPr>
          <a:xfrm>
            <a:off x="5900000" y="1741626"/>
            <a:ext cx="3400000" cy="84895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Used ML combined with weather-based dispersion analysis to predict disease spread early — good for prevention, but doesn't classify severity or give explainability.</a:t>
            </a:r>
            <a:endParaRPr lang="en-US" sz="1200"/>
          </a:p>
        </p:txBody>
      </p:sp>
      <p:sp>
        <p:nvSpPr>
          <p:cNvPr id="29" name="TextBox 29"/>
          <p:cNvSpPr txBox="1"/>
          <p:nvPr/>
        </p:nvSpPr>
        <p:spPr>
          <a:xfrm>
            <a:off x="2720000" y="2590578"/>
            <a:ext cx="2990000" cy="85442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Banana Plant Disease Classification Using Hybrid Convolutional Neural Network (Computational Intelligence &amp; Neuroscience, Hindawi)</a:t>
            </a:r>
            <a:endParaRPr lang="en-US" sz="1200"/>
          </a:p>
        </p:txBody>
      </p:sp>
      <p:sp>
        <p:nvSpPr>
          <p:cNvPr id="30" name="TextBox 30"/>
          <p:cNvSpPr txBox="1"/>
          <p:nvPr/>
        </p:nvSpPr>
        <p:spPr>
          <a:xfrm>
            <a:off x="5900000" y="2590578"/>
            <a:ext cx="3400000" cy="85442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Built a hybrid CNN model for banana disease classification with high accuracy — strong on detection, but a "black box" (no explainability), and no severity grading.</a:t>
            </a:r>
            <a:endParaRPr lang="en-US" sz="1200"/>
          </a:p>
        </p:txBody>
      </p:sp>
      <p:sp>
        <p:nvSpPr>
          <p:cNvPr id="31" name="TextBox 31"/>
          <p:cNvSpPr txBox="1"/>
          <p:nvPr/>
        </p:nvSpPr>
        <p:spPr>
          <a:xfrm>
            <a:off x="2720000" y="3445000"/>
            <a:ext cx="2990000" cy="65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Implementing a Hybrid CNN-SVM Model for Banana Leaf Disease Classification (IEEE RMKMATE, Chennai, India)</a:t>
            </a:r>
            <a:endParaRPr lang="en-US" sz="1200"/>
          </a:p>
        </p:txBody>
      </p:sp>
      <p:sp>
        <p:nvSpPr>
          <p:cNvPr id="32" name="TextBox 32"/>
          <p:cNvSpPr txBox="1"/>
          <p:nvPr/>
        </p:nvSpPr>
        <p:spPr>
          <a:xfrm>
            <a:off x="5900000" y="3445000"/>
            <a:ext cx="3400000" cy="65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Combined CNN (feature extraction) + SVM (classification) to improve accuracy over plain CNN — shows hybrid models outperform others.</a:t>
            </a:r>
            <a:endParaRPr lang="en-US" sz="1200"/>
          </a:p>
        </p:txBody>
      </p:sp>
      <p:sp>
        <p:nvSpPr>
          <p:cNvPr id="33" name="TextBox 33"/>
          <p:cNvSpPr txBox="1"/>
          <p:nvPr/>
        </p:nvSpPr>
        <p:spPr>
          <a:xfrm>
            <a:off x="2720000" y="4100000"/>
            <a:ext cx="2990000" cy="683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Enhancing Banana Cultivation: Disease Identification through CNN and SVM Analysis for Optimal Plant Health (IEEE TQCEBT)</a:t>
            </a:r>
            <a:endParaRPr lang="en-US" sz="1200"/>
          </a:p>
        </p:txBody>
      </p:sp>
      <p:sp>
        <p:nvSpPr>
          <p:cNvPr id="34" name="TextBox 34"/>
          <p:cNvSpPr txBox="1"/>
          <p:nvPr/>
        </p:nvSpPr>
        <p:spPr>
          <a:xfrm>
            <a:off x="5900000" y="4100000"/>
            <a:ext cx="3400000" cy="683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Also used CNN-SVM specifically for banana disease identification, reinforcing this as a mature, reliable approach for the classification step.</a:t>
            </a:r>
            <a:endParaRPr lang="en-US" sz="1200"/>
          </a:p>
        </p:txBody>
      </p:sp>
      <p:sp>
        <p:nvSpPr>
          <p:cNvPr id="35" name="TextBox 35"/>
          <p:cNvSpPr txBox="1"/>
          <p:nvPr/>
        </p:nvSpPr>
        <p:spPr>
          <a:xfrm>
            <a:off x="2720000" y="4783000"/>
            <a:ext cx="2990000" cy="669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YOLOv10-based Approach for Banana Leaf Disease Detection (Engineering, Technology &amp; Applied Science Research)</a:t>
            </a:r>
            <a:endParaRPr lang="en-US" sz="1200"/>
          </a:p>
        </p:txBody>
      </p:sp>
      <p:sp>
        <p:nvSpPr>
          <p:cNvPr id="36" name="TextBox 36"/>
          <p:cNvSpPr txBox="1"/>
          <p:nvPr/>
        </p:nvSpPr>
        <p:spPr>
          <a:xfrm>
            <a:off x="5900000" y="4783000"/>
            <a:ext cx="3400000" cy="669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Used YOLOv10 for detection and localization — meaning it can point out where on the leaf the disease is, not just classify it.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3134" y="0"/>
            <a:ext cx="10882704" cy="354251"/>
          </a:xfrm>
          <a:custGeom>
            <a:avLst/>
            <a:gdLst/>
            <a:ahLst/>
            <a:cxnLst/>
            <a:rect l="l" t="t" r="r" b="b"/>
            <a:pathLst>
              <a:path w="10882704" h="354251">
                <a:moveTo>
                  <a:pt x="0" y="0"/>
                </a:moveTo>
                <a:lnTo>
                  <a:pt x="10882704" y="0"/>
                </a:lnTo>
                <a:lnTo>
                  <a:pt x="10882704" y="354251"/>
                </a:lnTo>
                <a:lnTo>
                  <a:pt x="0" y="354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56408" y="6908797"/>
            <a:ext cx="10666415" cy="444437"/>
          </a:xfrm>
          <a:custGeom>
            <a:avLst/>
            <a:gdLst/>
            <a:ahLst/>
            <a:cxnLst/>
            <a:rect l="l" t="t" r="r" b="b"/>
            <a:pathLst>
              <a:path w="10666415" h="444437">
                <a:moveTo>
                  <a:pt x="0" y="0"/>
                </a:moveTo>
                <a:lnTo>
                  <a:pt x="10666416" y="0"/>
                </a:lnTo>
                <a:lnTo>
                  <a:pt x="1066641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Literature Survey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OUTCOME OF THE LITERATURE SURVEY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479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Existing work spans classical ML, hybrid CNN-SVM models, and pure CNN pipelines, with reported accuracies from  90% to  99% depending on dataset size and disease classes.</a:t>
            </a:r>
            <a:endParaRPr lang="en-US" sz="1800"/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Hybrid CNN approaches consistently improve on standalone classical ML, but neither severity estimation nor explainability is addressed.</a:t>
            </a:r>
            <a:endParaRPr lang="en-US" sz="1800"/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Newer object-detection approaches improve localization of disease regions but still stop at classification/detection, without quantifying affected leaf area.</a:t>
            </a:r>
            <a:endParaRPr lang="en-US" sz="1800"/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Very few studies estimate disease severity; most systems output only a disease label and confidence score.</a:t>
            </a:r>
            <a:endParaRPr lang="en-US" sz="1800"/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1751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Explainability (e.g., Grad-CAM) is rarely integrated into existing systems, limiting farmer trust.</a:t>
            </a:r>
            <a:endParaRPr lang="en-US" sz="1800"/>
          </a:p>
          <a:p>
            <a:pPr marL="342900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This motivates an integrated system combining classification, severity estimation and explainable AI in one farmer-friendly application.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2089" y="0"/>
            <a:ext cx="10552853" cy="343514"/>
          </a:xfrm>
          <a:custGeom>
            <a:avLst/>
            <a:gdLst/>
            <a:ahLst/>
            <a:cxnLst/>
            <a:rect l="l" t="t" r="r" b="b"/>
            <a:pathLst>
              <a:path w="10552853" h="343514">
                <a:moveTo>
                  <a:pt x="0" y="0"/>
                </a:moveTo>
                <a:lnTo>
                  <a:pt x="10552853" y="0"/>
                </a:lnTo>
                <a:lnTo>
                  <a:pt x="10552853" y="343514"/>
                </a:lnTo>
                <a:lnTo>
                  <a:pt x="0" y="343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70510" y="6908797"/>
            <a:ext cx="10907297" cy="454474"/>
          </a:xfrm>
          <a:custGeom>
            <a:avLst/>
            <a:gdLst/>
            <a:ahLst/>
            <a:cxnLst/>
            <a:rect l="l" t="t" r="r" b="b"/>
            <a:pathLst>
              <a:path w="10907297" h="454474">
                <a:moveTo>
                  <a:pt x="0" y="0"/>
                </a:moveTo>
                <a:lnTo>
                  <a:pt x="10907298" y="0"/>
                </a:lnTo>
                <a:lnTo>
                  <a:pt x="10907298" y="454474"/>
                </a:lnTo>
                <a:lnTo>
                  <a:pt x="0" y="454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35607" y="1807207"/>
            <a:ext cx="8882377" cy="2862577"/>
          </a:xfrm>
          <a:custGeom>
            <a:avLst/>
            <a:gdLst/>
            <a:ahLst/>
            <a:cxnLst/>
            <a:rect l="l" t="t" r="r" b="b"/>
            <a:pathLst>
              <a:path w="8882377" h="2862577">
                <a:moveTo>
                  <a:pt x="0" y="0"/>
                </a:moveTo>
                <a:lnTo>
                  <a:pt x="8882377" y="0"/>
                </a:lnTo>
                <a:lnTo>
                  <a:pt x="8882377" y="2862577"/>
                </a:lnTo>
                <a:lnTo>
                  <a:pt x="0" y="286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Proposed Work : Architecture</a:t>
            </a:r>
            <a:endParaRPr lang="en-US" sz="1400"/>
          </a:p>
        </p:txBody>
      </p:sp>
      <p:sp>
        <p:nvSpPr>
          <p:cNvPr id="8" name="TextBox 8"/>
          <p:cNvSpPr txBox="1"/>
          <p:nvPr/>
        </p:nvSpPr>
        <p:spPr>
          <a:xfrm>
            <a:off x="3143250" y="2911754"/>
            <a:ext cx="23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Not a banana leaf: rejected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10" name="TextBox 10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200"/>
          </a:p>
        </p:txBody>
      </p:sp>
      <p:sp>
        <p:nvSpPr>
          <p:cNvPr id="11" name="TextBox 11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ARCHITECTURE OF PROPOSED MODEL/ BLOCK DIAGRAM</a:t>
            </a:r>
            <a:endParaRPr lang="en-US" sz="2800"/>
          </a:p>
        </p:txBody>
      </p:sp>
      <p:sp>
        <p:nvSpPr>
          <p:cNvPr id="12" name="TextBox 12"/>
          <p:cNvSpPr txBox="1"/>
          <p:nvPr/>
        </p:nvSpPr>
        <p:spPr>
          <a:xfrm>
            <a:off x="583000" y="1896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Leaf Image Input</a:t>
            </a:r>
            <a:endParaRPr lang="en-US" sz="1200"/>
          </a:p>
        </p:txBody>
      </p:sp>
      <p:sp>
        <p:nvSpPr>
          <p:cNvPr id="13" name="TextBox 13"/>
          <p:cNvSpPr txBox="1"/>
          <p:nvPr/>
        </p:nvSpPr>
        <p:spPr>
          <a:xfrm>
            <a:off x="583000" y="3690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Severity Estimation</a:t>
            </a:r>
            <a:endParaRPr lang="en-US" sz="1200"/>
          </a:p>
        </p:txBody>
      </p:sp>
      <p:sp>
        <p:nvSpPr>
          <p:cNvPr id="14" name="TextBox 14"/>
          <p:cNvSpPr txBox="1"/>
          <p:nvPr/>
        </p:nvSpPr>
        <p:spPr>
          <a:xfrm>
            <a:off x="2377000" y="1896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 Quality Check</a:t>
            </a:r>
            <a:endParaRPr lang="en-US" sz="1200"/>
          </a:p>
        </p:txBody>
      </p:sp>
      <p:sp>
        <p:nvSpPr>
          <p:cNvPr id="15" name="TextBox 15"/>
          <p:cNvSpPr txBox="1"/>
          <p:nvPr/>
        </p:nvSpPr>
        <p:spPr>
          <a:xfrm>
            <a:off x="2377000" y="3690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Grad-CAM Explanation</a:t>
            </a:r>
            <a:endParaRPr lang="en-US" sz="1200"/>
          </a:p>
        </p:txBody>
      </p:sp>
      <p:sp>
        <p:nvSpPr>
          <p:cNvPr id="16" name="TextBox 16"/>
          <p:cNvSpPr txBox="1"/>
          <p:nvPr/>
        </p:nvSpPr>
        <p:spPr>
          <a:xfrm>
            <a:off x="4181000" y="1896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 Preprocessing</a:t>
            </a:r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4181000" y="3690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Recommendation Engine</a:t>
            </a:r>
            <a:endParaRPr lang="en-US" sz="1200"/>
          </a:p>
        </p:txBody>
      </p:sp>
      <p:sp>
        <p:nvSpPr>
          <p:cNvPr id="18" name="TextBox 18"/>
          <p:cNvSpPr txBox="1"/>
          <p:nvPr/>
        </p:nvSpPr>
        <p:spPr>
          <a:xfrm>
            <a:off x="5986000" y="3690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Farmer Dashboard</a:t>
            </a:r>
            <a:endParaRPr lang="en-US" sz="1200"/>
          </a:p>
        </p:txBody>
      </p:sp>
      <p:sp>
        <p:nvSpPr>
          <p:cNvPr id="19" name="TextBox 19"/>
          <p:cNvSpPr txBox="1"/>
          <p:nvPr/>
        </p:nvSpPr>
        <p:spPr>
          <a:xfrm>
            <a:off x="5986000" y="1896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Disease Classification</a:t>
            </a:r>
            <a:endParaRPr lang="en-US" sz="1200"/>
          </a:p>
        </p:txBody>
      </p:sp>
      <p:sp>
        <p:nvSpPr>
          <p:cNvPr id="20" name="TextBox 20"/>
          <p:cNvSpPr txBox="1"/>
          <p:nvPr/>
        </p:nvSpPr>
        <p:spPr>
          <a:xfrm>
            <a:off x="7790000" y="1896000"/>
            <a:ext cx="1380000" cy="880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Disease Region Segmentation</a:t>
            </a:r>
            <a:endParaRPr lang="en-US" sz="1200"/>
          </a:p>
        </p:txBody>
      </p:sp>
      <p:sp>
        <p:nvSpPr>
          <p:cNvPr id="21" name="TextBox 21"/>
          <p:cNvSpPr txBox="1"/>
          <p:nvPr/>
        </p:nvSpPr>
        <p:spPr>
          <a:xfrm>
            <a:off x="457200" y="4870000"/>
            <a:ext cx="8839200" cy="716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Pipeline: Image → Quality Check (banana leaf / not a banana leaf) → Preprocessing → CNN Classification → Segmentation → Severity % → Grad-CAM → Recommendation → Dashboard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8014" y="0"/>
            <a:ext cx="10779972" cy="350907"/>
          </a:xfrm>
          <a:custGeom>
            <a:avLst/>
            <a:gdLst/>
            <a:ahLst/>
            <a:cxnLst/>
            <a:rect l="l" t="t" r="r" b="b"/>
            <a:pathLst>
              <a:path w="10779972" h="350907">
                <a:moveTo>
                  <a:pt x="0" y="0"/>
                </a:moveTo>
                <a:lnTo>
                  <a:pt x="10779972" y="0"/>
                </a:lnTo>
                <a:lnTo>
                  <a:pt x="10779972" y="350907"/>
                </a:lnTo>
                <a:lnTo>
                  <a:pt x="0" y="350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74781" y="6908797"/>
            <a:ext cx="10970687" cy="457116"/>
          </a:xfrm>
          <a:custGeom>
            <a:avLst/>
            <a:gdLst/>
            <a:ahLst/>
            <a:cxnLst/>
            <a:rect l="l" t="t" r="r" b="b"/>
            <a:pathLst>
              <a:path w="10970687" h="457116">
                <a:moveTo>
                  <a:pt x="0" y="0"/>
                </a:moveTo>
                <a:lnTo>
                  <a:pt x="10970687" y="0"/>
                </a:lnTo>
                <a:lnTo>
                  <a:pt x="10970687" y="457115"/>
                </a:lnTo>
                <a:lnTo>
                  <a:pt x="0" y="457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Proposed Work : Architecture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200"/>
          </a:p>
        </p:txBody>
      </p:sp>
      <p:grpSp>
        <p:nvGrpSpPr>
          <p:cNvPr id="9" name="Group 9"/>
          <p:cNvGrpSpPr/>
          <p:nvPr/>
        </p:nvGrpSpPr>
        <p:grpSpPr>
          <a:xfrm>
            <a:off x="292608" y="380000"/>
            <a:ext cx="9168384" cy="487680"/>
            <a:chOff x="0" y="0"/>
            <a:chExt cx="12224512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24512" cy="650240"/>
            </a:xfrm>
            <a:custGeom>
              <a:avLst/>
              <a:gdLst/>
              <a:ahLst/>
              <a:cxnLst/>
              <a:rect l="l" t="t" r="r" b="b"/>
              <a:pathLst>
                <a:path w="12224512" h="650240">
                  <a:moveTo>
                    <a:pt x="0" y="0"/>
                  </a:moveTo>
                  <a:lnTo>
                    <a:pt x="12224512" y="0"/>
                  </a:lnTo>
                  <a:lnTo>
                    <a:pt x="12224512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6318" b="-31631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2224512" cy="65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ARCHITECTURE AND WORKING OF THE PROPOSED SYSTEM</a:t>
              </a:r>
              <a:endParaRPr lang="en-US" sz="2800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79051" y="1029694"/>
          <a:ext cx="9425521" cy="5833038"/>
        </p:xfrm>
        <a:graphic>
          <a:graphicData uri="http://schemas.openxmlformats.org/drawingml/2006/table">
            <a:tbl>
              <a:tblPr/>
              <a:tblGrid>
                <a:gridCol w="37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4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it works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Leaf Image Input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Farmer uploads a banana leaf photo (smartphone/camera) through the simple, farmer-friendly web interface.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Leaf image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Image Quality Check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Validates every upload as banana leaf / not a banana leaf before analysis; unsuitable images are rejected.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Accepted leaf image, or rejection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Pre-processing</a:t>
                      </a:r>
                      <a:endParaRPr lang="en-US" sz="1200"/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(OpenCV, NumPy)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Resizes image to 224 × 224, converts it to a pixel array and applies ResNet-50 preprocessing.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 × 224 pixels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36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CNN Classification</a:t>
                      </a:r>
                      <a:endParaRPr lang="en-US" sz="1200"/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(ResNet-50)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50-layer CNN with skip connections; transfer learning (ImageNet weights). Extracts spots, lesions, discoloration. Classes: Healthy, Black Sigatoka, Panama Disease, Bunchy Top.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Disease class + confidence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Region Segmentation</a:t>
                      </a:r>
                      <a:endParaRPr lang="en-US" sz="1200"/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(OpenCV )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leaf mask separates leaf from background and a disease mask marks suspected regions by colour.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Leaf mask + disease mask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Severity Estimation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Affected Area % = Diseased Pixels ÷ Total Leaf Pixels × 100. Mild: 0–20%, Moderate: &gt;20–40%, Severe: &gt;40%.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Affected area % + severity level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Grad-CAM Explanation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Uses gradients of the predicted class to build a heatmap overlaid on the leaf, highlighting regions that drove the prediction.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Heatmap overlay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Recommendation Engine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Rule-based (disease × severity): Mild – monitor and prevent; Moderate – increase monitoring and manage; Severe – act immediately, consult expert.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Suggested management action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16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Farmer Dashboard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Shows image, validation, disease, confidence, severity, segmentation, Grad-CAM and advice; scan history tracks disease progression.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Final results + scan history</a:t>
                      </a:r>
                      <a:endParaRPr lang="en-US" sz="1200"/>
                    </a:p>
                  </a:txBody>
                  <a:tcPr marL="64008" marR="6400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2089" y="0"/>
            <a:ext cx="10552853" cy="343514"/>
          </a:xfrm>
          <a:custGeom>
            <a:avLst/>
            <a:gdLst/>
            <a:ahLst/>
            <a:cxnLst/>
            <a:rect l="l" t="t" r="r" b="b"/>
            <a:pathLst>
              <a:path w="10552853" h="343514">
                <a:moveTo>
                  <a:pt x="0" y="0"/>
                </a:moveTo>
                <a:lnTo>
                  <a:pt x="10552853" y="0"/>
                </a:lnTo>
                <a:lnTo>
                  <a:pt x="10552853" y="343514"/>
                </a:lnTo>
                <a:lnTo>
                  <a:pt x="0" y="343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70510" y="6908797"/>
            <a:ext cx="10907297" cy="454474"/>
          </a:xfrm>
          <a:custGeom>
            <a:avLst/>
            <a:gdLst/>
            <a:ahLst/>
            <a:cxnLst/>
            <a:rect l="l" t="t" r="r" b="b"/>
            <a:pathLst>
              <a:path w="10907297" h="454474">
                <a:moveTo>
                  <a:pt x="0" y="0"/>
                </a:moveTo>
                <a:lnTo>
                  <a:pt x="10907298" y="0"/>
                </a:lnTo>
                <a:lnTo>
                  <a:pt x="10907298" y="454474"/>
                </a:lnTo>
                <a:lnTo>
                  <a:pt x="0" y="454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Proposed Work : Architecture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1250000"/>
            <a:ext cx="8839200" cy="4632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Input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You give the app a photo of a banana leaf</a:t>
            </a:r>
            <a:endParaRPr lang="en-US" sz="1800"/>
          </a:p>
          <a:p>
            <a:pPr marL="0" indent="0" algn="l">
              <a:lnSpc>
                <a:spcPct val="105000"/>
              </a:lnSpc>
              <a:spcBef>
                <a:spcPts val="2759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Preprocessing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The image is cleaned up: resized, noise removed, brightness balanced, made sharper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So the model sees a clean, clear picture every time</a:t>
            </a:r>
            <a:endParaRPr lang="en-US" sz="1800"/>
          </a:p>
          <a:p>
            <a:pPr marL="0" indent="0" algn="l">
              <a:lnSpc>
                <a:spcPct val="105000"/>
              </a:lnSpc>
              <a:spcBef>
                <a:spcPts val="2759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Feature Extraction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The ResNet-50 looks at the image and picks out important details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Like spots, colour changes, edges and textures — it learns these by itself</a:t>
            </a:r>
            <a:endParaRPr lang="en-US" sz="1800"/>
          </a:p>
          <a:p>
            <a:pPr marL="0" indent="0" algn="l">
              <a:lnSpc>
                <a:spcPct val="105000"/>
              </a:lnSpc>
              <a:spcBef>
                <a:spcPts val="2759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Feature Maps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These are the AI's internal notes of "what pattern is where"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Basically small grids showing where it noticed something important</a:t>
            </a:r>
            <a:endParaRPr lang="en-US" sz="1800"/>
          </a:p>
        </p:txBody>
      </p:sp>
      <p:sp>
        <p:nvSpPr>
          <p:cNvPr id="10" name="TextBox 10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DEMONSTRATION OF PROJECT WORK</a:t>
            </a:r>
            <a:endParaRPr 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2089" y="0"/>
            <a:ext cx="10552853" cy="343514"/>
          </a:xfrm>
          <a:custGeom>
            <a:avLst/>
            <a:gdLst/>
            <a:ahLst/>
            <a:cxnLst/>
            <a:rect l="l" t="t" r="r" b="b"/>
            <a:pathLst>
              <a:path w="10552853" h="343514">
                <a:moveTo>
                  <a:pt x="0" y="0"/>
                </a:moveTo>
                <a:lnTo>
                  <a:pt x="10552853" y="0"/>
                </a:lnTo>
                <a:lnTo>
                  <a:pt x="10552853" y="343514"/>
                </a:lnTo>
                <a:lnTo>
                  <a:pt x="0" y="343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70510" y="6908797"/>
            <a:ext cx="10907297" cy="454474"/>
          </a:xfrm>
          <a:custGeom>
            <a:avLst/>
            <a:gdLst/>
            <a:ahLst/>
            <a:cxnLst/>
            <a:rect l="l" t="t" r="r" b="b"/>
            <a:pathLst>
              <a:path w="10907297" h="454474">
                <a:moveTo>
                  <a:pt x="0" y="0"/>
                </a:moveTo>
                <a:lnTo>
                  <a:pt x="10907298" y="0"/>
                </a:lnTo>
                <a:lnTo>
                  <a:pt x="10907298" y="454474"/>
                </a:lnTo>
                <a:lnTo>
                  <a:pt x="0" y="454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Proposed Work : Architecture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1250000"/>
            <a:ext cx="8839200" cy="4598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Classification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The AI compares what it found with what it learned during training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It decides: Healthy / Brown Spot / Yellow Spot / etc.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It also gives a confidence score (how sure it is)</a:t>
            </a:r>
            <a:endParaRPr lang="en-US" sz="1800"/>
          </a:p>
          <a:p>
            <a:pPr marL="0" indent="0" algn="l">
              <a:lnSpc>
                <a:spcPct val="105000"/>
              </a:lnSpc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Explainability (Grad-CAM)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Shows a heatmap of which parts of the leaf the AI focused on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Red = most important area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Helps us trust that it looked at the disease, not the background</a:t>
            </a:r>
            <a:endParaRPr lang="en-US" sz="1800"/>
          </a:p>
          <a:p>
            <a:pPr marL="0" indent="0" algn="l">
              <a:lnSpc>
                <a:spcPct val="105000"/>
              </a:lnSpc>
              <a:spcBef>
                <a:spcPts val="3000"/>
              </a:spcBef>
              <a:spcAft>
                <a:spcPts val="4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7. Output</a:t>
            </a:r>
            <a:endParaRPr lang="en-US" sz="22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The disease name + how confident the AI is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How much of the leaf is affected (severity: None / Mild / Moderate / Severe)</a:t>
            </a:r>
            <a:endParaRPr lang="en-US" sz="1800"/>
          </a:p>
          <a:p>
            <a:pPr marL="411480" indent="-12166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- 3 pictures saved: cleaned image, affected area highlighted, and the heatmap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1641" y="0"/>
            <a:ext cx="10654346" cy="346818"/>
          </a:xfrm>
          <a:custGeom>
            <a:avLst/>
            <a:gdLst/>
            <a:ahLst/>
            <a:cxnLst/>
            <a:rect l="l" t="t" r="r" b="b"/>
            <a:pathLst>
              <a:path w="10654346" h="346818">
                <a:moveTo>
                  <a:pt x="0" y="0"/>
                </a:moveTo>
                <a:lnTo>
                  <a:pt x="10654345" y="0"/>
                </a:lnTo>
                <a:lnTo>
                  <a:pt x="10654345" y="346818"/>
                </a:lnTo>
                <a:lnTo>
                  <a:pt x="0" y="3468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01561" y="6908797"/>
            <a:ext cx="11553874" cy="481415"/>
          </a:xfrm>
          <a:custGeom>
            <a:avLst/>
            <a:gdLst/>
            <a:ahLst/>
            <a:cxnLst/>
            <a:rect l="l" t="t" r="r" b="b"/>
            <a:pathLst>
              <a:path w="11553874" h="481415">
                <a:moveTo>
                  <a:pt x="0" y="0"/>
                </a:moveTo>
                <a:lnTo>
                  <a:pt x="11553874" y="0"/>
                </a:lnTo>
                <a:lnTo>
                  <a:pt x="11553874" y="481415"/>
                </a:lnTo>
                <a:lnTo>
                  <a:pt x="0" y="481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40387" y="986277"/>
            <a:ext cx="3050116" cy="2287587"/>
          </a:xfrm>
          <a:custGeom>
            <a:avLst/>
            <a:gdLst/>
            <a:ahLst/>
            <a:cxnLst/>
            <a:rect l="l" t="t" r="r" b="b"/>
            <a:pathLst>
              <a:path w="3050116" h="2287587">
                <a:moveTo>
                  <a:pt x="0" y="0"/>
                </a:moveTo>
                <a:lnTo>
                  <a:pt x="3050116" y="0"/>
                </a:lnTo>
                <a:lnTo>
                  <a:pt x="3050116" y="2287587"/>
                </a:lnTo>
                <a:lnTo>
                  <a:pt x="0" y="2287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8740" y="891692"/>
            <a:ext cx="2446691" cy="2446691"/>
          </a:xfrm>
          <a:custGeom>
            <a:avLst/>
            <a:gdLst/>
            <a:ahLst/>
            <a:cxnLst/>
            <a:rect l="l" t="t" r="r" b="b"/>
            <a:pathLst>
              <a:path w="2446691" h="2446691">
                <a:moveTo>
                  <a:pt x="0" y="0"/>
                </a:moveTo>
                <a:lnTo>
                  <a:pt x="2446691" y="0"/>
                </a:lnTo>
                <a:lnTo>
                  <a:pt x="2446691" y="2446691"/>
                </a:lnTo>
                <a:lnTo>
                  <a:pt x="0" y="244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0417" y="3776980"/>
            <a:ext cx="2524212" cy="2524212"/>
          </a:xfrm>
          <a:custGeom>
            <a:avLst/>
            <a:gdLst/>
            <a:ahLst/>
            <a:cxnLst/>
            <a:rect l="l" t="t" r="r" b="b"/>
            <a:pathLst>
              <a:path w="2524212" h="2524212">
                <a:moveTo>
                  <a:pt x="0" y="0"/>
                </a:moveTo>
                <a:lnTo>
                  <a:pt x="2524212" y="0"/>
                </a:lnTo>
                <a:lnTo>
                  <a:pt x="2524212" y="2524212"/>
                </a:lnTo>
                <a:lnTo>
                  <a:pt x="0" y="2524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8740" y="4000295"/>
            <a:ext cx="2446691" cy="2446691"/>
          </a:xfrm>
          <a:custGeom>
            <a:avLst/>
            <a:gdLst/>
            <a:ahLst/>
            <a:cxnLst/>
            <a:rect l="l" t="t" r="r" b="b"/>
            <a:pathLst>
              <a:path w="2446691" h="2446691">
                <a:moveTo>
                  <a:pt x="0" y="0"/>
                </a:moveTo>
                <a:lnTo>
                  <a:pt x="2446691" y="0"/>
                </a:lnTo>
                <a:lnTo>
                  <a:pt x="2446691" y="2446690"/>
                </a:lnTo>
                <a:lnTo>
                  <a:pt x="0" y="24466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Demonstration</a:t>
            </a:r>
            <a:endParaRPr lang="en-US" sz="1400"/>
          </a:p>
        </p:txBody>
      </p:sp>
      <p:sp>
        <p:nvSpPr>
          <p:cNvPr id="11" name="TextBox 11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12" name="TextBox 12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Results and Output Visualization</a:t>
            </a:r>
            <a:endParaRPr lang="en-US" sz="2800"/>
          </a:p>
        </p:txBody>
      </p:sp>
      <p:sp>
        <p:nvSpPr>
          <p:cNvPr id="14" name="TextBox 14"/>
          <p:cNvSpPr txBox="1"/>
          <p:nvPr/>
        </p:nvSpPr>
        <p:spPr>
          <a:xfrm>
            <a:off x="840387" y="3365304"/>
            <a:ext cx="3050116" cy="43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Image uploaded (input)</a:t>
            </a:r>
            <a:endParaRPr lang="en-US" sz="1400"/>
          </a:p>
        </p:txBody>
      </p:sp>
      <p:sp>
        <p:nvSpPr>
          <p:cNvPr id="15" name="TextBox 15"/>
          <p:cNvSpPr txBox="1"/>
          <p:nvPr/>
        </p:nvSpPr>
        <p:spPr>
          <a:xfrm>
            <a:off x="5822085" y="3429823"/>
            <a:ext cx="2900000" cy="43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Preprocessed image</a:t>
            </a:r>
            <a:endParaRPr lang="en-US" sz="1400"/>
          </a:p>
        </p:txBody>
      </p:sp>
      <p:sp>
        <p:nvSpPr>
          <p:cNvPr id="16" name="TextBox 16"/>
          <p:cNvSpPr txBox="1"/>
          <p:nvPr/>
        </p:nvSpPr>
        <p:spPr>
          <a:xfrm>
            <a:off x="552523" y="6392632"/>
            <a:ext cx="3600000" cy="43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Severity estimation (infected area segmentation)</a:t>
            </a:r>
            <a:endParaRPr lang="en-US" sz="1400"/>
          </a:p>
        </p:txBody>
      </p:sp>
      <p:sp>
        <p:nvSpPr>
          <p:cNvPr id="17" name="TextBox 17"/>
          <p:cNvSpPr txBox="1"/>
          <p:nvPr/>
        </p:nvSpPr>
        <p:spPr>
          <a:xfrm>
            <a:off x="5822085" y="6538426"/>
            <a:ext cx="2900000" cy="43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Grad-CAM heatmap (explainability)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4328" y="0"/>
            <a:ext cx="11492071" cy="374087"/>
          </a:xfrm>
          <a:custGeom>
            <a:avLst/>
            <a:gdLst/>
            <a:ahLst/>
            <a:cxnLst/>
            <a:rect l="l" t="t" r="r" b="b"/>
            <a:pathLst>
              <a:path w="11492071" h="374087">
                <a:moveTo>
                  <a:pt x="0" y="0"/>
                </a:moveTo>
                <a:lnTo>
                  <a:pt x="11492071" y="0"/>
                </a:lnTo>
                <a:lnTo>
                  <a:pt x="11492071" y="374087"/>
                </a:lnTo>
                <a:lnTo>
                  <a:pt x="0" y="374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09967" y="6908797"/>
            <a:ext cx="10729805" cy="447079"/>
          </a:xfrm>
          <a:custGeom>
            <a:avLst/>
            <a:gdLst/>
            <a:ahLst/>
            <a:cxnLst/>
            <a:rect l="l" t="t" r="r" b="b"/>
            <a:pathLst>
              <a:path w="10729805" h="447079">
                <a:moveTo>
                  <a:pt x="0" y="0"/>
                </a:moveTo>
                <a:lnTo>
                  <a:pt x="10729805" y="0"/>
                </a:lnTo>
                <a:lnTo>
                  <a:pt x="10729805" y="447079"/>
                </a:lnTo>
                <a:lnTo>
                  <a:pt x="0" y="447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19333" y="1610968"/>
            <a:ext cx="8402747" cy="1950249"/>
          </a:xfrm>
          <a:custGeom>
            <a:avLst/>
            <a:gdLst/>
            <a:ahLst/>
            <a:cxnLst/>
            <a:rect l="l" t="t" r="r" b="b"/>
            <a:pathLst>
              <a:path w="8402747" h="1950249">
                <a:moveTo>
                  <a:pt x="0" y="0"/>
                </a:moveTo>
                <a:lnTo>
                  <a:pt x="8402747" y="0"/>
                </a:lnTo>
                <a:lnTo>
                  <a:pt x="8402747" y="1950249"/>
                </a:lnTo>
                <a:lnTo>
                  <a:pt x="0" y="1950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Demonstration</a:t>
            </a:r>
            <a:endParaRPr lang="en-US" sz="1400"/>
          </a:p>
        </p:txBody>
      </p:sp>
      <p:sp>
        <p:nvSpPr>
          <p:cNvPr id="8" name="TextBox 8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8696400" y="7026554"/>
            <a:ext cx="600000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2800"/>
          </a:p>
        </p:txBody>
      </p:sp>
      <p:sp>
        <p:nvSpPr>
          <p:cNvPr id="11" name="TextBox 11"/>
          <p:cNvSpPr txBox="1"/>
          <p:nvPr/>
        </p:nvSpPr>
        <p:spPr>
          <a:xfrm>
            <a:off x="457200" y="3652657"/>
            <a:ext cx="8839200" cy="21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Output  containing </a:t>
            </a: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disease prediction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, percentage of </a:t>
            </a: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diseased area</a:t>
            </a:r>
            <a:r>
              <a:rPr lang="en-US"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, </a:t>
            </a: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severity 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4328" y="0"/>
            <a:ext cx="11492071" cy="374087"/>
          </a:xfrm>
          <a:custGeom>
            <a:avLst/>
            <a:gdLst/>
            <a:ahLst/>
            <a:cxnLst/>
            <a:rect l="l" t="t" r="r" b="b"/>
            <a:pathLst>
              <a:path w="11492071" h="374087">
                <a:moveTo>
                  <a:pt x="0" y="0"/>
                </a:moveTo>
                <a:lnTo>
                  <a:pt x="11492071" y="0"/>
                </a:lnTo>
                <a:lnTo>
                  <a:pt x="11492071" y="374087"/>
                </a:lnTo>
                <a:lnTo>
                  <a:pt x="0" y="374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09967" y="6908797"/>
            <a:ext cx="10729805" cy="447079"/>
          </a:xfrm>
          <a:custGeom>
            <a:avLst/>
            <a:gdLst/>
            <a:ahLst/>
            <a:cxnLst/>
            <a:rect l="l" t="t" r="r" b="b"/>
            <a:pathLst>
              <a:path w="10729805" h="447079">
                <a:moveTo>
                  <a:pt x="0" y="0"/>
                </a:moveTo>
                <a:lnTo>
                  <a:pt x="10729805" y="0"/>
                </a:lnTo>
                <a:lnTo>
                  <a:pt x="10729805" y="447079"/>
                </a:lnTo>
                <a:lnTo>
                  <a:pt x="0" y="447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87209" y="1021285"/>
            <a:ext cx="7979182" cy="4423459"/>
          </a:xfrm>
          <a:custGeom>
            <a:avLst/>
            <a:gdLst/>
            <a:ahLst/>
            <a:cxnLst/>
            <a:rect l="l" t="t" r="r" b="b"/>
            <a:pathLst>
              <a:path w="7979182" h="4423459">
                <a:moveTo>
                  <a:pt x="0" y="0"/>
                </a:moveTo>
                <a:lnTo>
                  <a:pt x="7979182" y="0"/>
                </a:lnTo>
                <a:lnTo>
                  <a:pt x="7979182" y="4423459"/>
                </a:lnTo>
                <a:lnTo>
                  <a:pt x="0" y="44234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Demonstration</a:t>
            </a:r>
            <a:endParaRPr lang="en-US" sz="1400"/>
          </a:p>
        </p:txBody>
      </p:sp>
      <p:sp>
        <p:nvSpPr>
          <p:cNvPr id="8" name="TextBox 8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1940" y="0"/>
            <a:ext cx="10908077" cy="355077"/>
          </a:xfrm>
          <a:custGeom>
            <a:avLst/>
            <a:gdLst/>
            <a:ahLst/>
            <a:cxnLst/>
            <a:rect l="l" t="t" r="r" b="b"/>
            <a:pathLst>
              <a:path w="10908077" h="355077">
                <a:moveTo>
                  <a:pt x="0" y="0"/>
                </a:moveTo>
                <a:lnTo>
                  <a:pt x="10908077" y="0"/>
                </a:lnTo>
                <a:lnTo>
                  <a:pt x="10908077" y="355077"/>
                </a:lnTo>
                <a:lnTo>
                  <a:pt x="0" y="355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8374" y="6908797"/>
            <a:ext cx="10831229" cy="451305"/>
          </a:xfrm>
          <a:custGeom>
            <a:avLst/>
            <a:gdLst/>
            <a:ahLst/>
            <a:cxnLst/>
            <a:rect l="l" t="t" r="r" b="b"/>
            <a:pathLst>
              <a:path w="10831229" h="451305">
                <a:moveTo>
                  <a:pt x="0" y="0"/>
                </a:moveTo>
                <a:lnTo>
                  <a:pt x="10831229" y="0"/>
                </a:lnTo>
                <a:lnTo>
                  <a:pt x="10831229" y="451305"/>
                </a:lnTo>
                <a:lnTo>
                  <a:pt x="0" y="451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  <a:endParaRPr lang="en-US" sz="2800"/>
          </a:p>
        </p:txBody>
      </p:sp>
      <p:sp>
        <p:nvSpPr>
          <p:cNvPr id="11" name="TextBox 11"/>
          <p:cNvSpPr txBox="1"/>
          <p:nvPr/>
        </p:nvSpPr>
        <p:spPr>
          <a:xfrm>
            <a:off x="457200" y="1250000"/>
            <a:ext cx="8839200" cy="3363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1.Early disease detection for banana farmers to reduce crop loss and improve yield.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2.Decision-support tool for agricultural extension officers and Krishi Vigyan Kendras.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3.Field-ready diagnosis via a smartphone camera through the web interface.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4.Severity tracking and disease-progression monitoring across large plantations over time.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5.Extensible to other banana-growing regions and adaptable to additional crop diseases.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1940" y="0"/>
            <a:ext cx="10908077" cy="355077"/>
          </a:xfrm>
          <a:custGeom>
            <a:avLst/>
            <a:gdLst/>
            <a:ahLst/>
            <a:cxnLst/>
            <a:rect l="l" t="t" r="r" b="b"/>
            <a:pathLst>
              <a:path w="10908077" h="355077">
                <a:moveTo>
                  <a:pt x="0" y="0"/>
                </a:moveTo>
                <a:lnTo>
                  <a:pt x="10908077" y="0"/>
                </a:lnTo>
                <a:lnTo>
                  <a:pt x="10908077" y="355077"/>
                </a:lnTo>
                <a:lnTo>
                  <a:pt x="0" y="355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8374" y="6908797"/>
            <a:ext cx="10831229" cy="451305"/>
          </a:xfrm>
          <a:custGeom>
            <a:avLst/>
            <a:gdLst/>
            <a:ahLst/>
            <a:cxnLst/>
            <a:rect l="l" t="t" r="r" b="b"/>
            <a:pathLst>
              <a:path w="10831229" h="451305">
                <a:moveTo>
                  <a:pt x="0" y="0"/>
                </a:moveTo>
                <a:lnTo>
                  <a:pt x="10831229" y="0"/>
                </a:lnTo>
                <a:lnTo>
                  <a:pt x="10831229" y="451305"/>
                </a:lnTo>
                <a:lnTo>
                  <a:pt x="0" y="451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Requirements</a:t>
            </a:r>
            <a:endParaRPr lang="en-US" sz="1400" dirty="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1250000"/>
            <a:ext cx="8839200" cy="1243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Hardware:</a:t>
            </a:r>
            <a:endParaRPr lang="en-US" sz="2200"/>
          </a:p>
          <a:p>
            <a:pPr marL="571500" indent="-3429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GPU: NVIDIA GPU for accelerated deep learning model training.</a:t>
            </a:r>
            <a:endParaRPr lang="en-US" sz="1800"/>
          </a:p>
          <a:p>
            <a:pPr marL="571500" indent="-3429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Storage: SSD storage for fast dataset loading and saving model checkpoints.</a:t>
            </a:r>
            <a:endParaRPr lang="en-US" sz="1800"/>
          </a:p>
        </p:txBody>
      </p:sp>
      <p:sp>
        <p:nvSpPr>
          <p:cNvPr id="10" name="TextBox 10"/>
          <p:cNvSpPr txBox="1"/>
          <p:nvPr/>
        </p:nvSpPr>
        <p:spPr>
          <a:xfrm>
            <a:off x="457200" y="3193084"/>
            <a:ext cx="8839200" cy="1626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Software &amp; Frameworks:</a:t>
            </a:r>
            <a:endParaRPr lang="en-US" sz="2200"/>
          </a:p>
          <a:p>
            <a:pPr marL="571500" indent="-3429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Python (Core Programming Language)</a:t>
            </a:r>
            <a:endParaRPr lang="en-US" sz="1800"/>
          </a:p>
          <a:p>
            <a:pPr marL="571500" indent="-3429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TensorFlow / Keras (Deep Learning Framework for ResNet50)</a:t>
            </a:r>
            <a:endParaRPr lang="en-US" sz="1800"/>
          </a:p>
          <a:p>
            <a:pPr marL="571500" indent="-34290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OpenCV (Image Processing &amp; Preprocessing)</a:t>
            </a:r>
            <a:endParaRPr 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2089" y="0"/>
            <a:ext cx="10616286" cy="345579"/>
          </a:xfrm>
          <a:custGeom>
            <a:avLst/>
            <a:gdLst/>
            <a:ahLst/>
            <a:cxnLst/>
            <a:rect l="l" t="t" r="r" b="b"/>
            <a:pathLst>
              <a:path w="10616286" h="345579">
                <a:moveTo>
                  <a:pt x="0" y="0"/>
                </a:moveTo>
                <a:lnTo>
                  <a:pt x="10616286" y="0"/>
                </a:lnTo>
                <a:lnTo>
                  <a:pt x="10616286" y="345579"/>
                </a:lnTo>
                <a:lnTo>
                  <a:pt x="0" y="345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8374" y="6908797"/>
            <a:ext cx="10805873" cy="450248"/>
          </a:xfrm>
          <a:custGeom>
            <a:avLst/>
            <a:gdLst/>
            <a:ahLst/>
            <a:cxnLst/>
            <a:rect l="l" t="t" r="r" b="b"/>
            <a:pathLst>
              <a:path w="10805873" h="450248">
                <a:moveTo>
                  <a:pt x="0" y="0"/>
                </a:moveTo>
                <a:lnTo>
                  <a:pt x="10805873" y="0"/>
                </a:lnTo>
                <a:lnTo>
                  <a:pt x="10805873" y="450248"/>
                </a:lnTo>
                <a:lnTo>
                  <a:pt x="0" y="4502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Limitations &amp; Future Scope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LIMITATIONS AND FUTURE SCOPE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358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sz="2200"/>
          </a:p>
        </p:txBody>
      </p:sp>
      <p:sp>
        <p:nvSpPr>
          <p:cNvPr id="11" name="TextBox 11"/>
          <p:cNvSpPr txBox="1"/>
          <p:nvPr/>
        </p:nvSpPr>
        <p:spPr>
          <a:xfrm>
            <a:off x="457200" y="3900000"/>
            <a:ext cx="8839200" cy="358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Future Scope</a:t>
            </a:r>
            <a:endParaRPr lang="en-US" sz="2200"/>
          </a:p>
        </p:txBody>
      </p:sp>
      <p:sp>
        <p:nvSpPr>
          <p:cNvPr id="14" name="TextBox 14"/>
          <p:cNvSpPr txBox="1"/>
          <p:nvPr/>
        </p:nvSpPr>
        <p:spPr>
          <a:xfrm>
            <a:off x="457200" y="4378116"/>
            <a:ext cx="8839200" cy="1301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and tune the system on real field images from different plantations.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Expand the dataset with more diseases and growth stages.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Provide a mobile application and regional-language advice for farmers.</a:t>
            </a:r>
            <a:endParaRPr lang="en-US" sz="1800"/>
          </a:p>
        </p:txBody>
      </p:sp>
      <p:sp>
        <p:nvSpPr>
          <p:cNvPr id="15" name="TextBox 15"/>
          <p:cNvSpPr txBox="1"/>
          <p:nvPr/>
        </p:nvSpPr>
        <p:spPr>
          <a:xfrm>
            <a:off x="457200" y="1728116"/>
            <a:ext cx="8839200" cy="1301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HSV colour thresholds can be sensitive to lighting and background conditions.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Leaf-area severity suits spot diseases better than wilt or viral diseases.</a:t>
            </a:r>
            <a:endParaRPr lang="en-US" sz="1800"/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Accuracy depends on the quality and variety of the training images.</a:t>
            </a:r>
            <a:endParaRPr 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96268" y="0"/>
            <a:ext cx="11758076" cy="382746"/>
          </a:xfrm>
          <a:custGeom>
            <a:avLst/>
            <a:gdLst/>
            <a:ahLst/>
            <a:cxnLst/>
            <a:rect l="l" t="t" r="r" b="b"/>
            <a:pathLst>
              <a:path w="11758076" h="382746">
                <a:moveTo>
                  <a:pt x="0" y="0"/>
                </a:moveTo>
                <a:lnTo>
                  <a:pt x="11758076" y="0"/>
                </a:lnTo>
                <a:lnTo>
                  <a:pt x="11758076" y="382746"/>
                </a:lnTo>
                <a:lnTo>
                  <a:pt x="0" y="382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96268" y="6908797"/>
            <a:ext cx="10768242" cy="448680"/>
          </a:xfrm>
          <a:custGeom>
            <a:avLst/>
            <a:gdLst/>
            <a:ahLst/>
            <a:cxnLst/>
            <a:rect l="l" t="t" r="r" b="b"/>
            <a:pathLst>
              <a:path w="10768242" h="448680">
                <a:moveTo>
                  <a:pt x="0" y="0"/>
                </a:moveTo>
                <a:lnTo>
                  <a:pt x="10768242" y="0"/>
                </a:lnTo>
                <a:lnTo>
                  <a:pt x="10768242" y="448680"/>
                </a:lnTo>
                <a:lnTo>
                  <a:pt x="0" y="44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18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2800"/>
          </a:p>
        </p:txBody>
      </p:sp>
      <p:sp>
        <p:nvSpPr>
          <p:cNvPr id="12" name="TextBox 12"/>
          <p:cNvSpPr txBox="1"/>
          <p:nvPr/>
        </p:nvSpPr>
        <p:spPr>
          <a:xfrm>
            <a:off x="457200" y="1250000"/>
            <a:ext cx="8839200" cy="3827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1.The proposed system automates banana leaf disease detection using deep learning, with ResNet-50 for accurate classification.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2.Beyond classification, it validates the input image, estimates disease severity and provides Grad-CAM visual explanations, improving transparency and farmer trust.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3.A Streamlit-based dashboard with recommendations and scan-history tracking makes the system practical and farmer-friendly.</a:t>
            </a:r>
            <a:endParaRPr lang="en-US" sz="1800"/>
          </a:p>
          <a:p>
            <a:pPr marL="190500" indent="-1905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4.This second review presents the implemented pipeline and its demonstration; further evaluation and field testing follow next.</a:t>
            </a:r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0895" y="0"/>
            <a:ext cx="10565540" cy="343927"/>
          </a:xfrm>
          <a:custGeom>
            <a:avLst/>
            <a:gdLst/>
            <a:ahLst/>
            <a:cxnLst/>
            <a:rect l="l" t="t" r="r" b="b"/>
            <a:pathLst>
              <a:path w="10565540" h="343927">
                <a:moveTo>
                  <a:pt x="0" y="0"/>
                </a:moveTo>
                <a:lnTo>
                  <a:pt x="10565540" y="0"/>
                </a:lnTo>
                <a:lnTo>
                  <a:pt x="10565540" y="343927"/>
                </a:lnTo>
                <a:lnTo>
                  <a:pt x="0" y="343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07120" y="6908797"/>
            <a:ext cx="10996043" cy="458172"/>
          </a:xfrm>
          <a:custGeom>
            <a:avLst/>
            <a:gdLst/>
            <a:ahLst/>
            <a:cxnLst/>
            <a:rect l="l" t="t" r="r" b="b"/>
            <a:pathLst>
              <a:path w="10996043" h="458172">
                <a:moveTo>
                  <a:pt x="0" y="0"/>
                </a:moveTo>
                <a:lnTo>
                  <a:pt x="10996043" y="0"/>
                </a:lnTo>
                <a:lnTo>
                  <a:pt x="10996043" y="458172"/>
                </a:lnTo>
                <a:lnTo>
                  <a:pt x="0" y="458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4484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[1] Kothalawala, M. U., Gaveshith K., M. G., Tharaka, A. H. D. H., Punchihewa, I. A., &amp; Sriyaratna, D. (2022). Banana disease identification using machine learning based technologies and weather-based dispersion analysis. In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Proceedings of the 4th International Conference on Advancements in Computing (ICAC)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Colombo, Sri Lanka, pp. 234–239. doi: 10.1109/ICAC57685.2022.10025325.</a:t>
            </a:r>
            <a:endParaRPr lang="en-US" sz="1600"/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[2] Tanwar, V., Sharma, B., &amp; Aanand, V. (2023). Implementing a hybrid CNN-SVM model for banana leaf disease classification. In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Proceedings of the IEEE International Conference on Research Methodologies in Knowledge Management, Artificial Intelligence and Telecommunication Engineering (RMKMATE)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Chennai, India. doi: 10.1109/RMKMATE59243.2023.10369215.</a:t>
            </a:r>
            <a:endParaRPr lang="en-US" sz="1600"/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[3] Thirumeninathan, V., Vijayalakshmi, S., &amp; Palathara, S. T. (2024). Enhancing banana cultivation: Disease identification through CNN and SVM analysis for optimal plant health. In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Proceedings of the International Conference on Trends in Quantum Computing and Emerging Business Technologies (TQCEBT)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pp. 1–6. doi: 10.1109/TQCEBT59414.2024.10545264.</a:t>
            </a:r>
            <a:endParaRPr lang="en-US" sz="1600"/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[4] Alanazi, R. (2025). A YOLOv10-based approach for banana leaf disease detection.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Engineering, Technology &amp; Applied Science Research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vol. 15, no. 3, pp. 23522–23526. doi: 10.48084/etasr.11138.</a:t>
            </a:r>
            <a:endParaRPr 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9999" y="0"/>
            <a:ext cx="10806584" cy="351773"/>
          </a:xfrm>
          <a:custGeom>
            <a:avLst/>
            <a:gdLst/>
            <a:ahLst/>
            <a:cxnLst/>
            <a:rect l="l" t="t" r="r" b="b"/>
            <a:pathLst>
              <a:path w="10806584" h="351773">
                <a:moveTo>
                  <a:pt x="0" y="0"/>
                </a:moveTo>
                <a:lnTo>
                  <a:pt x="10806584" y="0"/>
                </a:lnTo>
                <a:lnTo>
                  <a:pt x="10806584" y="351773"/>
                </a:lnTo>
                <a:lnTo>
                  <a:pt x="0" y="351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3018" y="6908797"/>
            <a:ext cx="10717127" cy="446550"/>
          </a:xfrm>
          <a:custGeom>
            <a:avLst/>
            <a:gdLst/>
            <a:ahLst/>
            <a:cxnLst/>
            <a:rect l="l" t="t" r="r" b="b"/>
            <a:pathLst>
              <a:path w="10717127" h="446550">
                <a:moveTo>
                  <a:pt x="0" y="0"/>
                </a:moveTo>
                <a:lnTo>
                  <a:pt x="10717128" y="0"/>
                </a:lnTo>
                <a:lnTo>
                  <a:pt x="10717128" y="446550"/>
                </a:lnTo>
                <a:lnTo>
                  <a:pt x="0" y="446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1603" y="6946897"/>
            <a:ext cx="330203" cy="330203"/>
            <a:chOff x="0" y="0"/>
            <a:chExt cx="440271" cy="44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309" cy="440309"/>
            </a:xfrm>
            <a:custGeom>
              <a:avLst/>
              <a:gdLst/>
              <a:ahLst/>
              <a:cxnLst/>
              <a:rect l="l" t="t" r="r" b="b"/>
              <a:pathLst>
                <a:path w="440309" h="440309">
                  <a:moveTo>
                    <a:pt x="0" y="0"/>
                  </a:moveTo>
                  <a:lnTo>
                    <a:pt x="440309" y="0"/>
                  </a:lnTo>
                  <a:lnTo>
                    <a:pt x="440309" y="440309"/>
                  </a:lnTo>
                  <a:lnTo>
                    <a:pt x="0" y="44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1603" y="55000"/>
            <a:ext cx="4500000" cy="23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1400"/>
          </a:p>
        </p:txBody>
      </p:sp>
      <p:sp>
        <p:nvSpPr>
          <p:cNvPr id="7" name="TextBox 7"/>
          <p:cNvSpPr txBox="1"/>
          <p:nvPr/>
        </p:nvSpPr>
        <p:spPr>
          <a:xfrm>
            <a:off x="3376800" y="7026554"/>
            <a:ext cx="30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Dept. of ISE, SIT, Tumkur</a:t>
            </a:r>
            <a:endParaRPr lang="en-US" sz="1200"/>
          </a:p>
        </p:txBody>
      </p:sp>
      <p:sp>
        <p:nvSpPr>
          <p:cNvPr id="8" name="TextBox 8"/>
          <p:cNvSpPr txBox="1"/>
          <p:nvPr/>
        </p:nvSpPr>
        <p:spPr>
          <a:xfrm>
            <a:off x="8696400" y="7026554"/>
            <a:ext cx="600000" cy="19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57200" y="400000"/>
            <a:ext cx="8839200" cy="4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2800"/>
          </a:p>
        </p:txBody>
      </p:sp>
      <p:sp>
        <p:nvSpPr>
          <p:cNvPr id="10" name="TextBox 10"/>
          <p:cNvSpPr txBox="1"/>
          <p:nvPr/>
        </p:nvSpPr>
        <p:spPr>
          <a:xfrm>
            <a:off x="457200" y="1250000"/>
            <a:ext cx="8839200" cy="3163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[5] Narayanan, K. L., Krishnan, R. S., Robinson, Y. H., Julie, E. G., Vimal, S., Saravanan, V., &amp; Kaliappan, M. (2022). Banana plant disease classification using hybrid convolutional neural network.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Computational Intelligence and Neuroscience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vol. 2022, article 9153699, pp. 1–13. doi: 10.1155/2022/9153699.</a:t>
            </a:r>
            <a:endParaRPr lang="en-US" sz="1600"/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[6]  He, K., Zhang, X., Ren, S., &amp; Sun, J. (2016). Deep residual learning for image recognition. In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Proceedings of the IEEE Conference on Computer Vision and Pattern Recognition (CVPR)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Las Vegas, NV, USA, pp. 770–778. doi: 10.1109/CVPR.2016.90.</a:t>
            </a:r>
            <a:endParaRPr lang="en-US" sz="1600"/>
          </a:p>
          <a:p>
            <a:pPr marL="285750" indent="-28575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[7] Selvaraju, R. R., Cogswell, M., Das, A., Vedantam, R., Parikh, D., &amp; Batra, D. (2017). Grad-CAM: Visual explanations from deep networks via gradient-based localization. In </a:t>
            </a:r>
            <a:r>
              <a:rPr lang="en-US"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Proceedings of the IEEE International Conference on Computer Vision (ICCV)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Venice, Italy, pp. 618–626. doi: 10.1109/ICCV.2017.74.</a:t>
            </a: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3350000"/>
            <a:ext cx="8839200" cy="515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Thank you, everyone!</a:t>
            </a:r>
            <a:endParaRPr 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2395</Words>
  <Application>Microsoft Office PowerPoint</Application>
  <PresentationFormat>Custom</PresentationFormat>
  <Paragraphs>256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Mini_Project_Second_Review_Presentation.pdf</dc:title>
  <cp:lastModifiedBy>Rakesh Y G</cp:lastModifiedBy>
  <cp:revision>2</cp:revision>
  <dcterms:created xsi:type="dcterms:W3CDTF">2006-08-16T00:00:00Z</dcterms:created>
  <dcterms:modified xsi:type="dcterms:W3CDTF">2026-10-30T19:10:41Z</dcterms:modified>
  <dc:identifier>DAHZf9qZ_SM</dc:identifier>
</cp:coreProperties>
</file>